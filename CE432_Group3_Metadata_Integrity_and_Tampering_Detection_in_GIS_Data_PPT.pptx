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Detection Performance Metrics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9E-42CB-B34B-72F84B62A704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F9E-42CB-B34B-72F84B62A704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F9E-42CB-B34B-72F84B62A704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F9E-42CB-B34B-72F84B62A704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F9E-42CB-B34B-72F84B62A7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90.5</c:v>
                </c:pt>
                <c:pt idx="1">
                  <c:v>77.8</c:v>
                </c:pt>
                <c:pt idx="2">
                  <c:v>100</c:v>
                </c:pt>
                <c:pt idx="3">
                  <c:v>100</c:v>
                </c:pt>
                <c:pt idx="4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F9E-42CB-B34B-72F84B62A7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Detection by Tamper Size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18-44AB-9D74-78F068193303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18-44AB-9D74-78F0681933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Field Tampered
(n=6)</c:v>
                </c:pt>
                <c:pt idx="1">
                  <c:v>2 Fields Tampered
(n=3)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18-44AB-9D74-78F0681933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Hash Engine vs Semantic Checker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Hash Engine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90.5</c:v>
                </c:pt>
                <c:pt idx="1">
                  <c:v>77.8</c:v>
                </c:pt>
                <c:pt idx="2">
                  <c:v>100</c:v>
                </c:pt>
                <c:pt idx="3">
                  <c:v>100</c:v>
                </c:pt>
                <c:pt idx="4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0-4712-9E0C-502A846881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Semantic Checker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66.7</c:v>
                </c:pt>
                <c:pt idx="1">
                  <c:v>22.2</c:v>
                </c:pt>
                <c:pt idx="2">
                  <c:v>100</c:v>
                </c:pt>
                <c:pt idx="3">
                  <c:v>100</c:v>
                </c:pt>
                <c:pt idx="4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30-4712-9E0C-502A846881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ML Model Performance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 Score</c:v>
                </c:pt>
                <c:pt idx="3">
                  <c:v>FP Rate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61.6</c:v>
                </c:pt>
                <c:pt idx="2">
                  <c:v>55.2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4-4263-A7EF-C8A005EA71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One-Class SVM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 Score</c:v>
                </c:pt>
                <c:pt idx="3">
                  <c:v>FP Rate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73.3</c:v>
                </c:pt>
                <c:pt idx="1">
                  <c:v>83.5</c:v>
                </c:pt>
                <c:pt idx="2">
                  <c:v>78.099999999999994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C4-4263-A7EF-C8A005EA717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Ensemble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 Score</c:v>
                </c:pt>
                <c:pt idx="3">
                  <c:v>FP Rate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77.8</c:v>
                </c:pt>
                <c:pt idx="1">
                  <c:v>69.3</c:v>
                </c:pt>
                <c:pt idx="2">
                  <c:v>73.3</c:v>
                </c:pt>
                <c:pt idx="3">
                  <c:v>14.4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C4-4263-A7EF-C8A005EA71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Feature Importance (Isolation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BBox Width</c:v>
                </c:pt>
                <c:pt idx="1">
                  <c:v>BBox Area</c:v>
                </c:pt>
                <c:pt idx="2">
                  <c:v>Abstract Entropy</c:v>
                </c:pt>
                <c:pt idx="3">
                  <c:v>BBox Height</c:v>
                </c:pt>
                <c:pt idx="4">
                  <c:v>CRS Category</c:v>
                </c:pt>
                <c:pt idx="5">
                  <c:v>Abstract Length</c:v>
                </c:pt>
                <c:pt idx="6">
                  <c:v>Keyword Count</c:v>
                </c:pt>
                <c:pt idx="7">
                  <c:v>Creation Year</c:v>
                </c:pt>
                <c:pt idx="8">
                  <c:v>Title TF-IDF Overlap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0.18</c:v>
                </c:pt>
                <c:pt idx="1">
                  <c:v>0.16</c:v>
                </c:pt>
                <c:pt idx="2">
                  <c:v>0.13</c:v>
                </c:pt>
                <c:pt idx="3">
                  <c:v>0.12</c:v>
                </c:pt>
                <c:pt idx="4">
                  <c:v>0.1</c:v>
                </c:pt>
                <c:pt idx="5">
                  <c:v>0.09</c:v>
                </c:pt>
                <c:pt idx="6">
                  <c:v>0.08</c:v>
                </c:pt>
                <c:pt idx="7">
                  <c:v>7.0000000000000007E-2</c:v>
                </c:pt>
                <c:pt idx="8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3F-4C8A-9C3F-325CC2B11A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Model Agreement (IF vs SVM)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D4-43B3-9821-225293F88398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D4-43B3-9821-225293F88398}"/>
              </c:ext>
            </c:extLst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FD4-43B3-9821-225293F88398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FD4-43B3-9821-225293F8839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FD4-43B3-9821-225293F8839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FD4-43B3-9821-225293F8839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D4-43B3-9821-225293F8839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D4-43B3-9821-225293F8839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Both Clean (205)</c:v>
                </c:pt>
                <c:pt idx="1">
                  <c:v>Both Flagged (51)</c:v>
                </c:pt>
                <c:pt idx="2">
                  <c:v>IF only (22)</c:v>
                </c:pt>
                <c:pt idx="3">
                  <c:v>SVM only (28)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16.7</c:v>
                </c:pt>
                <c:pt idx="2">
                  <c:v>7.2</c:v>
                </c:pt>
                <c:pt idx="3">
                  <c:v>9.1999999999999993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D4-43B3-9821-225293F883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Detection Rate by Tampering Type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BBox W/E swap</c:v>
                </c:pt>
                <c:pt idx="1">
                  <c:v>BBox lat shift</c:v>
                </c:pt>
                <c:pt idx="2">
                  <c:v>Future date</c:v>
                </c:pt>
                <c:pt idx="3">
                  <c:v>Abstract truncated</c:v>
                </c:pt>
                <c:pt idx="4">
                  <c:v>Fake CRS</c:v>
                </c:pt>
                <c:pt idx="5">
                  <c:v>BBox tiny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</c:v>
                </c:pt>
                <c:pt idx="1">
                  <c:v>67</c:v>
                </c:pt>
                <c:pt idx="2">
                  <c:v>33</c:v>
                </c:pt>
                <c:pt idx="3">
                  <c:v>100</c:v>
                </c:pt>
                <c:pt idx="4">
                  <c:v>13</c:v>
                </c:pt>
                <c:pt idx="5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F4-4113-9765-0043B1BF4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One-Class SVM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BBox W/E swap</c:v>
                </c:pt>
                <c:pt idx="1">
                  <c:v>BBox lat shift</c:v>
                </c:pt>
                <c:pt idx="2">
                  <c:v>Future date</c:v>
                </c:pt>
                <c:pt idx="3">
                  <c:v>Abstract truncated</c:v>
                </c:pt>
                <c:pt idx="4">
                  <c:v>Fake CRS</c:v>
                </c:pt>
                <c:pt idx="5">
                  <c:v>BBox tiny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73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13</c:v>
                </c:pt>
                <c:pt idx="5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F4-4113-9765-0043B1BF48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Ensemble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BBox W/E swap</c:v>
                </c:pt>
                <c:pt idx="1">
                  <c:v>BBox lat shift</c:v>
                </c:pt>
                <c:pt idx="2">
                  <c:v>Future date</c:v>
                </c:pt>
                <c:pt idx="3">
                  <c:v>Abstract truncated</c:v>
                </c:pt>
                <c:pt idx="4">
                  <c:v>Fake CRS</c:v>
                </c:pt>
                <c:pt idx="5">
                  <c:v>BBox tiny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27</c:v>
                </c:pt>
                <c:pt idx="5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F4-4113-9765-0043B1BF4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Performance Metrics — All Three Models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Hash Engine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 Score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90.5</c:v>
                </c:pt>
                <c:pt idx="1">
                  <c:v>77.8</c:v>
                </c:pt>
                <c:pt idx="2">
                  <c:v>100</c:v>
                </c:pt>
                <c:pt idx="3">
                  <c:v>100</c:v>
                </c:pt>
                <c:pt idx="4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50-401E-BA46-9F9C91AC12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Semantic Checker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 Score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66.7</c:v>
                </c:pt>
                <c:pt idx="1">
                  <c:v>22.2</c:v>
                </c:pt>
                <c:pt idx="2">
                  <c:v>100</c:v>
                </c:pt>
                <c:pt idx="3">
                  <c:v>100</c:v>
                </c:pt>
                <c:pt idx="4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50-401E-BA46-9F9C91AC12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ML Ensemble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F1 Score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</c:v>
                </c:pt>
                <c:pt idx="1">
                  <c:v>77.8</c:v>
                </c:pt>
                <c:pt idx="2">
                  <c:v>82.4</c:v>
                </c:pt>
                <c:pt idx="3">
                  <c:v>69.3</c:v>
                </c:pt>
                <c:pt idx="4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50-401E-BA46-9F9C91AC12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795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Integrity &amp;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 Detection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GIS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CE432: Geographical Information System  |  IIT Kanpur  |  Group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28346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 Kumar (230152)  ·  Kanika Sharma (230524)  ·  Shivesh Shukla (230978)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30906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Salil Goel  |  Maj. Gen (Dr.) B. Nagarajan   |   April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26480" y="365760"/>
            <a:ext cx="2743200" cy="438912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3-PILLAR APPROACH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005840"/>
            <a:ext cx="2514600" cy="1005840"/>
          </a:xfrm>
          <a:prstGeom prst="rect">
            <a:avLst/>
          </a:prstGeom>
          <a:solidFill>
            <a:srgbClr val="162840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789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HMAC-SHA256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14447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 Engine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2514600" cy="1005840"/>
          </a:xfrm>
          <a:prstGeom prst="rect">
            <a:avLst/>
          </a:prstGeom>
          <a:solidFill>
            <a:srgbClr val="162840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22677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Semantic NLP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633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14-Rule Consistency Checker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3383280"/>
            <a:ext cx="2514600" cy="1005840"/>
          </a:xfrm>
          <a:prstGeom prst="rect">
            <a:avLst/>
          </a:prstGeom>
          <a:solidFill>
            <a:srgbClr val="16284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34564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Anomaly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38221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One-Class SVM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QGIS Plugin for Forensic Metadata Tampering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Threat: GIS Metadata Tampering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metadata integrity matters in geospatial workflows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metadata is the identity card of a spatial dataset — recording coordinate system, spatial extent, author, scale, and data quality. Any unauthorized modification, even a single changed field, can corrupt downstream analysis with no visual warning on the map.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5819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08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Flood Mapping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9933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CRS shifts flood boundaries by 100s of metres — placing evacuation zones in wrong locations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5819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74136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Land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9933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Falsified bounding box or CRS misattributes land ownership in cadastral systems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15819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6733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Defence GIS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27064" y="19933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spatial reference can trigger diplomatic crises from border misidentification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535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Infrastructure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" y="33649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scale metadata causes infrastructure built on miscalculated footprints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64408" y="29535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74136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Carbon Credits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3649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lineage hides the true origin of carbon stock data used in climate policy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17336" y="2953512"/>
            <a:ext cx="2697480" cy="12344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7064" y="30449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Integrity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33649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GIS-based research can be retracted if tampering is discovered post-publication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434840"/>
            <a:ext cx="8321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19115 standard governs GIS metadata — yet no existing tool specifically detects forensic metadata tampering in QGIS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Analysis: Impact of Metadata Tampering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IITK campus building layer — CRS tampering demonstration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530 building polygons of IIT Kanpur (OpenStreetMap, EPSG:32644 UTM Zone 44N, 81 attribute columns)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344168"/>
            <a:ext cx="3977640" cy="2446020"/>
          </a:xfrm>
          <a:prstGeom prst="rect">
            <a:avLst/>
          </a:prstGeom>
          <a:solidFill>
            <a:srgbClr val="F0FFF8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344168"/>
            <a:ext cx="3977640" cy="2446020"/>
          </a:xfrm>
          <a:prstGeom prst="rect">
            <a:avLst/>
          </a:prstGeom>
          <a:solidFill>
            <a:srgbClr val="FFF4F4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ORIGINAL — EPSG:32644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CRS: UTM Zone 44N (metres)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radius: 10 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spatially accurate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 correct footprints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area values populated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TAMPERED — EPSG:4326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55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falsified to WGS84 (degrees)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048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Buffer: 10° instead of 10 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≈ 1,100 km in radius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GIS analysis breaks down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column returns NaN for all rows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2468880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074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2044" y="4316520"/>
            <a:ext cx="8321040" cy="1686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marL="0" indent="0" algn="l">
              <a:buNone/>
            </a:pPr>
            <a:endParaRPr lang="en-US" sz="9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QGIS Metadata Verifier Plugin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3-pillar approach — deterministic, rule-based, and learning-based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97480" cy="37490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1208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" y="21671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per-field hashing with PBKDF2 key derivation. Detects any single-character change. Requires owner's baseline .db file.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1208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80744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80744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0744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40280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40280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0.456ms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40280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120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Owner .db file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64408" y="1051560"/>
            <a:ext cx="2697480" cy="37490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37560" y="1115568"/>
            <a:ext cx="475488" cy="475488"/>
          </a:xfrm>
          <a:prstGeom prst="lin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37560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886200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4136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NLP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74136" y="21671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weighted rules checking internal metadata consistency using TF-IDF, cosine similarity, and Shannon entropy. No baseline needed.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74136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74136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33672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33672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233672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93208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93208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0.726ms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93208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74136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Metadata only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17336" y="1051560"/>
            <a:ext cx="2697480" cy="37490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90488" y="1115568"/>
            <a:ext cx="475488" cy="475488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90488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39128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27064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27064" y="216712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One-Class SVM ensemble trained on 304 real Copernicus Marine Service records. 19 engineered features.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27064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27064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27064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Recall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86600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86600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86600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946136" y="3035808"/>
            <a:ext cx="786384" cy="658368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46136" y="308152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2.4MB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946136" y="3419856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27064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Metadata only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1480" y="4114800"/>
            <a:ext cx="8321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three pillars cover distinct threat models — subtle edits, coherent forgeries, and statistical anomalies.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HMAC-SHA256 Hash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metadata fingerprinting with PBKDF2 key derivation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25196" y="1051560"/>
            <a:ext cx="2683764" cy="105613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9" y="1053846"/>
            <a:ext cx="45719" cy="103905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105384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HMAC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1612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digest — HMAC construction prevents substitution attacks. Single-character change → completely different 256-bit fingerprint.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051560"/>
            <a:ext cx="2697480" cy="1046988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1" y="1038899"/>
            <a:ext cx="45719" cy="10469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70" y="106756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Key Derivation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1570" y="115998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310,000 HMAC-SHA256 iterations. Random salt per export defeats rainbow tables. Key held in-memory only — never stored.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70" y="1046285"/>
            <a:ext cx="2670046" cy="1065276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17336" y="1051560"/>
            <a:ext cx="45719" cy="10469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8213" y="106756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Normalization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8" y="115998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collapse whitespace, strip edges, None/NULL → ''. Ensures export-time and verify-time hashes always match.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166048"/>
            <a:ext cx="2697480" cy="1006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196" y="2166048"/>
            <a:ext cx="50292" cy="99815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Hashing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23774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fields hashed independently (not chained). Enables precise field-level tampering identification. Combined hash catches any change instantly.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2144971"/>
            <a:ext cx="2697480" cy="10069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73552" y="2166048"/>
            <a:ext cx="45719" cy="99815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01568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Hash Database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0420" y="2313809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.db file stores salts, field hashes, combined hash. Key discarded after each operation. Safe to distribute with the layer.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1072" y="3268277"/>
            <a:ext cx="397764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1208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MODE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" y="3639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random salt → PBKDF2 derive key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&amp; normalize 15 metadata fields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 HMAC-SHA256 per field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1208" y="4270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combined hash over all field digests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" y="4480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Store salts + hashes in .db → discard key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36008" y="3291840"/>
            <a:ext cx="3977640" cy="1508760"/>
          </a:xfrm>
          <a:prstGeom prst="rect">
            <a:avLst/>
          </a:prstGeom>
          <a:solidFill>
            <a:srgbClr val="F0FFF4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45736" y="3364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45736" y="3639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.db → re-derive key from password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45736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&amp; normalize current metadata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45736" y="40599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Recompute per-field HMACs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45736" y="4270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Rebuild combined hash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45736" y="4480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Compare → report exact tampered fields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Engine: Evaluation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21 layers (12 clean, 9 tampered) — fully automated blind evaluation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9656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9656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19656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7832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36008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44184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44184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5236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0.456ms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5236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1920240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5669280" y="1920240"/>
          <a:ext cx="3017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21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2 false negatives: tampered fields (contact, date_created) were not included in the 15 hashed fields — an implementation gap, not a methodological flaw.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NLP-Based Semantic Consistency Checker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weighted rules — no baseline required, internal coherence validation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Is this metadata internally self-consistent? An adversary who changes keywords or abstract without updating geometry type or CRS creates contradictions that these rules exploit.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Keywords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18488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18488" y="144475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09928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09928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Identifier–Geometry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825496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25496" y="144475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16936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16936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Contradiction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032504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032504" y="1444752"/>
            <a:ext cx="45720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23944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23944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Identifier–Keyword Overlap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239512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39512" y="144475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30952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0952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Consistency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46520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46520" y="144475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7960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vs Dataset Scope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653528" y="144475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53528" y="144475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44968" y="14721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44968" y="16550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Content Scan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11480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11480" y="194767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Consistency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618488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618488" y="1947672"/>
            <a:ext cx="45720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709928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709928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Quality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825496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825496" y="194767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916936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16936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Abstract–Keyword Similarity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32504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032504" y="1947672"/>
            <a:ext cx="457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23944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23944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Validity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239512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239512" y="194767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30952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30952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Count Plausibility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446520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446520" y="1947672"/>
            <a:ext cx="45720" cy="4389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37960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37960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Detection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653528" y="1947672"/>
            <a:ext cx="1143000" cy="43891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653528" y="1947672"/>
            <a:ext cx="457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744968" y="1975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744968" y="21579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Domain–Field Consistency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11480" y="2496312"/>
            <a:ext cx="13716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4360" y="2496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Weight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874520" y="2496312"/>
            <a:ext cx="1371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057400" y="2496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Weight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337560" y="2496312"/>
            <a:ext cx="137160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520440" y="24963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Weight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11480" y="2724912"/>
            <a:ext cx="8321040" cy="566928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48640" y="27797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Thresholds: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86000" y="2798064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28600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611880" y="27980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0.10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434840" y="2798064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3484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760720" y="27980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0.28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583680" y="2798064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58368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09560" y="279806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0.28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3401568"/>
            <a:ext cx="2697480" cy="777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48640" y="3456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TF-IDF Cosine Similarity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548640" y="3712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topical overlap between abstract and keywords — catches keyword replacement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64408" y="3401568"/>
            <a:ext cx="2697480" cy="777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401568" y="3456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Shannon Entropy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3401568" y="3712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vocabulary diversity in abstract — low entropy flags boilerplate/fabricated text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117336" y="3401568"/>
            <a:ext cx="2697480" cy="777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254496" y="3456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Domain Vocabulary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254496" y="3712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geometry types (POINT, POLYGON) to expected terms — detects geometry contradictions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Checker: Evaluation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consistency checking — high precision, limited recall by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9656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9656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19656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7832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36008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44184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36.4%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44184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5236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0.726ms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5236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Speed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1938528"/>
          <a:ext cx="5486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6035040" y="1938528"/>
            <a:ext cx="2697480" cy="260604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172200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72200" y="23591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R6 (CRS vs Scope) and R7 (Suspicious Content) fired on tampered layers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172200" y="28346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 — safe to run always without generating noise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172200" y="3310128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implausibility, not subtle value substitution — complements hash engine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72200" y="378561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rules + cryptographic hashing = complementary, not redundant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ML-Based Anomaly Detection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One-Class SVM ensemble trained on real Copernicus Marine metadata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23317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6908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(weight: 35%)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builds random decision trees and isolates outliers. Records in sparse feature-space regions require fewer splits → flagged as anomalous.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01368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01368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01368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99816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99816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099816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4069080" cy="233172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06908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(RBF)  (weight: 65%)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4173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tight boundary around normal training data. RBF kernel maps to high-dimensional space. Outperforms IF on small training sets.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46320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44768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4768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44768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43216" y="2176272"/>
            <a:ext cx="1216152" cy="685800"/>
          </a:xfrm>
          <a:prstGeom prst="rect">
            <a:avLst/>
          </a:prstGeom>
          <a:solidFill>
            <a:srgbClr val="F0FAFA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43216" y="2221992"/>
            <a:ext cx="1216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43216" y="254203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Rate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83210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 =  0.35 × IF + 0.65 × SVM  →  Recall: 77.8%  |  F1: 73.3%  |  FP Rate: 14.4%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822192"/>
            <a:ext cx="8321040" cy="1051560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Engineered Features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Text (6):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7043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Abstract/title length, word count, entropy; TF-IDF title↔abstract overlap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Spatial (8): 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5935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 W/E/S/N coords; derived width, height, area, centre lat/lon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8076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Temporal (2): 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48272" y="4160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date year and month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CRS (1): 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70432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encoding: WGS84=1, Equirect=2, Mercator=3, Polar=4, Other=5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Keyword (1):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59352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keyword count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4480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Scaler: 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48272" y="4480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fitted on 304 training records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Detector: Evaluation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across Isolation Forest, One-Class SVM, and ensemble (304 training records)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Recall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9656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19656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19656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Precision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27832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27832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36008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FP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44184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44184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52360" y="1051560"/>
            <a:ext cx="1261872" cy="804672"/>
          </a:xfrm>
          <a:prstGeom prst="rect">
            <a:avLst/>
          </a:prstGeom>
          <a:solidFill>
            <a:srgbClr val="F8FFFE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124712"/>
            <a:ext cx="1261872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52360" y="1494130"/>
            <a:ext cx="1261872" cy="30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411480" y="1938528"/>
          <a:ext cx="8321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dominates with the best precision (83.5%) and lowest FP rate (6%). Ensemble improves recall at some cost to precision — appropriate for forensic use-cases where catching tampering matters most.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Detector: Feature Importance &amp; Model Agreement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anomaly detection and how the two models complement each other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5156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669280" y="1051560"/>
          <a:ext cx="3017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411480" y="3858768"/>
          <a:ext cx="832104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Performance: All Three Pillars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comparison of accuracy metrics — and why three pillars are better than one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051560"/>
          <a:ext cx="83210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40480"/>
          <a:ext cx="8321040" cy="1078992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Engine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Checker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Detector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baseline file?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single char change?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Unlikely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Unlikely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wholesale rewrite?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with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If CRS/scope wrong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Statistical anomaly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false positives?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 6–14%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Field-level diff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Per-rule breakdown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(black-box)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vs Detection: Both Are Essential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detection remains critical even when prevention mechanisms exist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941832"/>
            <a:ext cx="8321040" cy="228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mechanisms reduce tampering risk but cannot eliminate it. Detection fills the gap — and provides forensic audit trails that prevention tools never can.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3977640" cy="3291840"/>
          </a:xfrm>
          <a:prstGeom prst="rect">
            <a:avLst/>
          </a:prstGeom>
          <a:solidFill>
            <a:srgbClr val="FFF8F8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444752"/>
            <a:ext cx="3977640" cy="3291840"/>
          </a:xfrm>
          <a:prstGeom prst="rect">
            <a:avLst/>
          </a:prstGeom>
          <a:solidFill>
            <a:srgbClr val="F0FFF8"/>
          </a:solidFill>
          <a:ln w="12700">
            <a:solidFill>
              <a:srgbClr val="D4ED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397764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— Limitations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44752"/>
            <a:ext cx="3977640" cy="2926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— Why Still Essential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075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users can modify metadata — but insider threats and compromised accounts bypass this entirely.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 / PKI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signs at creation — but keys can be stolen, revoked certs may not be checked, re-signing attacks exist.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/ Audit Logs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38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changes over time — but logs can be cleared, timestamps forged, logging systems compromised.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Transfer Protocols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270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HTTPS/SFTP prevents transit interception — but corruption at source or destination after delivery goes undetected.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Verification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0756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lets a recipient verify integrity without ever seeing original data — just the hash database.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Baseline-Free Semantic Check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807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rules catch implausible tampering with no reference file — protecting data shared without provenance.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3101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Normality Scoring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538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detector catches wholesale metadata replacement that looks coherent but is statistically abnormal.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40416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Audit Trail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4270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LocalDB tamper log with timestamps provides court-admissible evidence — prevention tools offer no post-hoc forensics.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137160" y="30861"/>
            <a:ext cx="4032504" cy="581406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900" b="1" dirty="0">
                <a:solidFill>
                  <a:srgbClr val="FFFFFF"/>
                </a:solidFill>
                <a:latin typeface="Calibri"/>
              </a:rPr>
              <a:t>Plugin Demo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137160" y="323850"/>
            <a:ext cx="113544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dirty="0">
                <a:solidFill>
                  <a:srgbClr val="00C2A0"/>
                </a:solidFill>
                <a:latin typeface="Calibri"/>
              </a:rPr>
              <a:t>Live demonstration of the Metadata Verifier QGIS Plugin</a:t>
            </a:r>
          </a:p>
        </p:txBody>
      </p:sp>
      <p:pic>
        <p:nvPicPr>
          <p:cNvPr id="6" name="2026-04-19 10-50-59.mp4">
            <a:hlinkClick r:id="" action="ppaction://media"/>
            <a:extLst>
              <a:ext uri="{FF2B5EF4-FFF2-40B4-BE49-F238E27FC236}">
                <a16:creationId xmlns:a16="http://schemas.microsoft.com/office/drawing/2014/main" id="{D2E761D7-D94F-A87B-7D32-8C32C5085B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5909" y="628650"/>
            <a:ext cx="8044408" cy="40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9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7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Directions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multi-layered, extensible approach to GIS metadata integrity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6052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HMAC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 accuracy, 100% precision, zero false positives at sub-millisecond speeds. Key-in-database architecture is production-ready.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416052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78992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Semantic Checker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264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implausible CRS/content combinations without any baseline. Perfect specificity — safe to run always without generating noise.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130552"/>
            <a:ext cx="416052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130552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Detector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77.8% ensemble recall on real Copernicus data. Catches wholesale metadata replacement that hash comparison cannot detect without a baseline.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30552"/>
            <a:ext cx="416052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Complementarity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47802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cover distinct threat models. Together they defend against subtle edits, coherent forgeries, and misconfigured exports.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520440"/>
            <a:ext cx="1572768" cy="822960"/>
          </a:xfrm>
          <a:prstGeom prst="rect">
            <a:avLst/>
          </a:prstGeom>
          <a:solidFill>
            <a:srgbClr val="0D1F35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547872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30552" y="3520440"/>
            <a:ext cx="1572768" cy="822960"/>
          </a:xfrm>
          <a:prstGeom prst="rect">
            <a:avLst/>
          </a:prstGeom>
          <a:solidFill>
            <a:srgbClr val="0D1F35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30552" y="3547872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Learning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9624" y="3520440"/>
            <a:ext cx="1572768" cy="822960"/>
          </a:xfrm>
          <a:prstGeom prst="rect">
            <a:avLst/>
          </a:prstGeom>
          <a:solidFill>
            <a:srgbClr val="0D1F35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9624" y="3547872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68696" y="3520440"/>
            <a:ext cx="1572768" cy="822960"/>
          </a:xfrm>
          <a:prstGeom prst="rect">
            <a:avLst/>
          </a:prstGeom>
          <a:solidFill>
            <a:srgbClr val="0D1F35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68696" y="3547872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Rules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87768" y="3520440"/>
            <a:ext cx="1572768" cy="822960"/>
          </a:xfrm>
          <a:prstGeom prst="rect">
            <a:avLst/>
          </a:prstGeom>
          <a:solidFill>
            <a:srgbClr val="0D1F35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87768" y="3547872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477316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CE432 GIS Project · Group 3 · IIT Kanpur ·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HLine"/>
          <p:cNvSpPr/>
          <p:nvPr/>
        </p:nvSpPr>
        <p:spPr>
          <a:xfrm>
            <a:off x="685800" y="2743200"/>
            <a:ext cx="77724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hankYouText"/>
          <p:cNvSpPr txBox="1"/>
          <p:nvPr/>
        </p:nvSpPr>
        <p:spPr>
          <a:xfrm>
            <a:off x="685800" y="1371600"/>
            <a:ext cx="7772400" cy="1143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6600" b="1" dirty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5" name="SubtitleText"/>
          <p:cNvSpPr txBox="1"/>
          <p:nvPr/>
        </p:nvSpPr>
        <p:spPr>
          <a:xfrm>
            <a:off x="685800" y="2819400"/>
            <a:ext cx="7772400" cy="4572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2000" b="0" dirty="0">
                <a:solidFill>
                  <a:srgbClr val="0D9488"/>
                </a:solidFill>
                <a:latin typeface="Calibri"/>
              </a:rPr>
              <a:t>We appreciate your time and attention</a:t>
            </a:r>
          </a:p>
        </p:txBody>
      </p:sp>
      <p:sp>
        <p:nvSpPr>
          <p:cNvPr id="6" name="QuestionsText"/>
          <p:cNvSpPr txBox="1"/>
          <p:nvPr/>
        </p:nvSpPr>
        <p:spPr>
          <a:xfrm>
            <a:off x="685800" y="3352800"/>
            <a:ext cx="7772400" cy="3429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600" b="0" dirty="0">
                <a:solidFill>
                  <a:srgbClr val="94A3B8"/>
                </a:solidFill>
                <a:latin typeface="Calibri"/>
              </a:rPr>
              <a:t>Questions? We’d love to hear from you.</a:t>
            </a:r>
          </a:p>
        </p:txBody>
      </p:sp>
      <p:sp>
        <p:nvSpPr>
          <p:cNvPr id="7" name="FooterText"/>
          <p:cNvSpPr txBox="1"/>
          <p:nvPr/>
        </p:nvSpPr>
        <p:spPr>
          <a:xfrm>
            <a:off x="685800" y="4800600"/>
            <a:ext cx="7772400" cy="2667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100" b="0" dirty="0">
                <a:solidFill>
                  <a:srgbClr val="475569"/>
                </a:solidFill>
                <a:latin typeface="Calibri"/>
              </a:rPr>
              <a:t>CE432 GIS Project · Group 3 · IIT Kanpur · April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1894</Words>
  <Application>Microsoft Macintosh PowerPoint</Application>
  <PresentationFormat>On-screen Show (16:9)</PresentationFormat>
  <Paragraphs>337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GIS Metadata Integrity and Tampering Detection</dc:title>
  <dc:subject>PptxGenJS Presentation</dc:subject>
  <dc:creator>Group 2 — IIT Kanpur</dc:creator>
  <cp:lastModifiedBy>Ankit Kumar</cp:lastModifiedBy>
  <cp:revision>5</cp:revision>
  <dcterms:created xsi:type="dcterms:W3CDTF">2026-04-17T19:43:48Z</dcterms:created>
  <dcterms:modified xsi:type="dcterms:W3CDTF">2026-04-19T06:33:54Z</dcterms:modified>
</cp:coreProperties>
</file>